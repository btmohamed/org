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latin typeface="Arial"/>
              </a:rPr>
              <a:t>BT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latin typeface="Arial"/>
              </a:rPr>
              <a:t>Projects Delivery</a:t>
            </a:r>
          </a:p>
          <a:p>
            <a:pPr algn="l"/>
            <a:r>
              <a:rPr sz="1000">
                <a:latin typeface="Arial"/>
              </a:rPr>
              <a:t>Organization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41392" y="712622"/>
            <a:ext cx="1890522" cy="427573"/>
          </a:xfrm>
          <a:prstGeom prst="rect">
            <a:avLst/>
          </a:prstGeom>
          <a:solidFill>
            <a:srgbClr val="A8D08D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Head of Operations &amp;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Project Management Division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Ahmed Taha</a:t>
            </a:r>
          </a:p>
        </p:txBody>
      </p:sp>
      <p:sp>
        <p:nvSpPr>
          <p:cNvPr id="5" name="Rectangle 4"/>
          <p:cNvSpPr/>
          <p:nvPr/>
        </p:nvSpPr>
        <p:spPr>
          <a:xfrm>
            <a:off x="3781044" y="1425244"/>
            <a:ext cx="1260348" cy="285048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Admin &amp; Support Function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Saheedh Chockli</a:t>
            </a:r>
          </a:p>
        </p:txBody>
      </p:sp>
      <p:sp>
        <p:nvSpPr>
          <p:cNvPr id="6" name="Rectangle 5"/>
          <p:cNvSpPr/>
          <p:nvPr/>
        </p:nvSpPr>
        <p:spPr>
          <a:xfrm>
            <a:off x="5671566" y="1425244"/>
            <a:ext cx="1512417" cy="427573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Projects Management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&amp; Planning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Ahmed Hamed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41392" y="2137867"/>
            <a:ext cx="1008278" cy="285048"/>
          </a:xfrm>
          <a:prstGeom prst="rect">
            <a:avLst/>
          </a:prstGeom>
          <a:solidFill>
            <a:srgbClr val="80808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FFFFF"/>
                </a:solidFill>
                <a:latin typeface="Arial"/>
              </a:rPr>
              <a:t>Senior Technical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FFFFF"/>
                </a:solidFill>
                <a:latin typeface="Arial"/>
              </a:rPr>
              <a:t>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FFFFF"/>
                </a:solidFill>
                <a:latin typeface="Arial"/>
              </a:rPr>
              <a:t>Haitham Omar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740" y="2137867"/>
            <a:ext cx="1008278" cy="285048"/>
          </a:xfrm>
          <a:prstGeom prst="rect">
            <a:avLst/>
          </a:prstGeom>
          <a:solidFill>
            <a:srgbClr val="80808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FFFFF"/>
                </a:solidFill>
                <a:latin typeface="Arial"/>
              </a:rPr>
              <a:t>QDC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FFFFF"/>
                </a:solidFill>
                <a:latin typeface="Arial"/>
              </a:rPr>
              <a:t>Mohamed Abdul Hameed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562088" y="2137867"/>
            <a:ext cx="1008278" cy="285048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Planning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i="1">
                <a:solidFill>
                  <a:srgbClr val="000000"/>
                </a:solidFill>
                <a:latin typeface="Arial"/>
              </a:rPr>
              <a:t>Vacant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71566" y="2707965"/>
            <a:ext cx="1008278" cy="285048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Technical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Mohamed Tourkistani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174" y="2565440"/>
            <a:ext cx="8822436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Serving Shamiyah Mataf &amp; CUC Projects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74" y="2993014"/>
            <a:ext cx="1260348" cy="285048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Arial"/>
              </a:rPr>
              <a:t>LC (SME*)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Sameh El Wazeer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104" y="3563112"/>
            <a:ext cx="882243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Technical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Bekshan Basheer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6382" y="3563112"/>
            <a:ext cx="882243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Technical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Sayed Qadri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104" y="3990685"/>
            <a:ext cx="882243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Senior Draftman (site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support)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Abdul Latheef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86382" y="3990685"/>
            <a:ext cx="882243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Fawzy Attiya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104" y="4418258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Aumaih Yahya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34313" y="4418258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Sayed A. Safi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90522" y="4418258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Ameen Mohamed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104" y="4774570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Abdul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Rahman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34313" y="4774570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Sayed Shahzad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0522" y="4774570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Burhan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46730" y="4774570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Ali Kamel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2939" y="4774570"/>
            <a:ext cx="504139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Driver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60348" y="3278063"/>
            <a:ext cx="0" cy="142524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3191" y="3420587"/>
            <a:ext cx="2961818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19226" y="3420587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7504" y="3420587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9226" y="3420587"/>
            <a:ext cx="0" cy="5700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27504" y="3420587"/>
            <a:ext cx="0" cy="5700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3191" y="3420587"/>
            <a:ext cx="0" cy="99767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49400" y="3420587"/>
            <a:ext cx="0" cy="99767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205609" y="3420587"/>
            <a:ext cx="0" cy="99767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3191" y="3420587"/>
            <a:ext cx="0" cy="1353983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449400" y="3420587"/>
            <a:ext cx="0" cy="1353983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05609" y="3420587"/>
            <a:ext cx="0" cy="1353983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61817" y="3420587"/>
            <a:ext cx="0" cy="1353983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655009" y="3420587"/>
            <a:ext cx="0" cy="1353983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033113" y="2993014"/>
            <a:ext cx="1260348" cy="285048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Arial"/>
              </a:rPr>
              <a:t>FAS (SME*)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Hazem Abdullah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2939" y="3563112"/>
            <a:ext cx="1008278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Technical Manager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Mustafa Abdul Hadi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37252" y="3563112"/>
            <a:ext cx="1008278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T&amp;C Manager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Ahmed Rabie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59148" y="399068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T&amp;C Eng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i="1">
                <a:solidFill>
                  <a:srgbClr val="FF0000"/>
                </a:solidFill>
                <a:latin typeface="Arial"/>
              </a:rPr>
              <a:t>Vacant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5357" y="399068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T&amp;C Eng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i="1">
                <a:solidFill>
                  <a:srgbClr val="FF0000"/>
                </a:solidFill>
                <a:latin typeface="Arial"/>
              </a:rPr>
              <a:t>Vacant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71566" y="399068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T&amp;C Eng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i="1">
                <a:solidFill>
                  <a:srgbClr val="FF0000"/>
                </a:solidFill>
                <a:latin typeface="Arial"/>
              </a:rPr>
              <a:t>Vacant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2939" y="4418258"/>
            <a:ext cx="882243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Senior Technical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Abdul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Latheef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11218" y="4418258"/>
            <a:ext cx="882243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Senior Technical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Mahmoud Murammish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02939" y="4845832"/>
            <a:ext cx="882243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Technical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Aseel Althobaty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11218" y="4845832"/>
            <a:ext cx="756208" cy="285048"/>
          </a:xfrm>
          <a:prstGeom prst="rect">
            <a:avLst/>
          </a:prstGeom>
          <a:solidFill>
            <a:srgbClr val="80808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FFFFF"/>
                </a:solidFill>
                <a:latin typeface="Arial"/>
              </a:rPr>
              <a:t>DCC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FFFFFF"/>
                </a:solidFill>
                <a:latin typeface="Arial"/>
              </a:rPr>
              <a:t>Waleed Najjar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59148" y="527340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Waleed Najjar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15357" y="527340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Amr Mahmoud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71566" y="527340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Ahmed El Sawy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02939" y="5700979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Abdul Hai Noman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59148" y="5700979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Mosawir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15357" y="5700979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Mahmoud Dosoky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63287" y="3278063"/>
            <a:ext cx="0" cy="142524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18026" y="3420587"/>
            <a:ext cx="2268627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07078" y="3420587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041392" y="3420587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74235" y="3420587"/>
            <a:ext cx="0" cy="5700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230444" y="3420587"/>
            <a:ext cx="0" cy="5700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986653" y="3420587"/>
            <a:ext cx="0" cy="5700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44061" y="3420587"/>
            <a:ext cx="0" cy="99767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852339" y="3420587"/>
            <a:ext cx="0" cy="99767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44061" y="3420587"/>
            <a:ext cx="0" cy="142524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89322" y="3420587"/>
            <a:ext cx="0" cy="142524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474235" y="3420587"/>
            <a:ext cx="0" cy="185281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230444" y="3420587"/>
            <a:ext cx="0" cy="185281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986653" y="3420587"/>
            <a:ext cx="0" cy="185281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718026" y="3420587"/>
            <a:ext cx="0" cy="2280392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474235" y="3420587"/>
            <a:ext cx="0" cy="2280392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230444" y="3420587"/>
            <a:ext cx="0" cy="2280392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6553809" y="2993014"/>
            <a:ext cx="1260348" cy="285048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Arial"/>
              </a:rPr>
              <a:t>Sound (SME*)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Khalid Hassan Said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49670" y="3563112"/>
            <a:ext cx="1008278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Senior Network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Architecht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Faisal Ilyas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183983" y="3563112"/>
            <a:ext cx="1008278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Senior Audio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Ramy Abdul Fattah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49670" y="3990685"/>
            <a:ext cx="1008278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Senior Audio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Alaa Abdul Jawwad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83983" y="3990685"/>
            <a:ext cx="1008278" cy="256544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QA &amp; QC Inspector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Hazem Abdullah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53809" y="4418258"/>
            <a:ext cx="756208" cy="285048"/>
          </a:xfrm>
          <a:prstGeom prst="rect">
            <a:avLst/>
          </a:prstGeom>
          <a:solidFill>
            <a:srgbClr val="80808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FFFFFF"/>
                </a:solidFill>
                <a:latin typeface="Arial"/>
              </a:rPr>
              <a:t>DCC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01740" y="4845832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Waleed Najjar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57948" y="4845832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Kasef Syas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49670" y="527340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Abdul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Salam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805879" y="5273405"/>
            <a:ext cx="630174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Draftman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Sayed Mubashir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183983" y="3278063"/>
            <a:ext cx="0" cy="142524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364757" y="3420587"/>
            <a:ext cx="1323365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553809" y="3420587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688122" y="3420587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553809" y="3420587"/>
            <a:ext cx="0" cy="5700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8122" y="3420587"/>
            <a:ext cx="0" cy="5700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931914" y="3420587"/>
            <a:ext cx="0" cy="99767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6616827" y="3420587"/>
            <a:ext cx="0" cy="142524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373035" y="3420587"/>
            <a:ext cx="0" cy="142524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6364757" y="3420587"/>
            <a:ext cx="0" cy="185281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120966" y="3420587"/>
            <a:ext cx="0" cy="185281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150870" y="6698650"/>
            <a:ext cx="1134313" cy="285048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Construction Manager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Habib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150870" y="7054961"/>
            <a:ext cx="1134313" cy="285048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Expansion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000000"/>
                </a:solidFill>
                <a:latin typeface="Arial"/>
              </a:rPr>
              <a:t>Building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150870" y="7411272"/>
            <a:ext cx="1134313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Site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Ahmed Mansour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150870" y="7696321"/>
            <a:ext cx="1134313" cy="356311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Engineer (3)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Foreman (2)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Manpower +45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37252" y="6698650"/>
            <a:ext cx="1386382" cy="356311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Piazza &amp; Service Building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Construction Manager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Hamdan Ahmedi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37252" y="7126224"/>
            <a:ext cx="1386382" cy="285048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Sound System O &amp; M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Manager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i="1">
                <a:solidFill>
                  <a:srgbClr val="FF0000"/>
                </a:solidFill>
                <a:latin typeface="Arial"/>
              </a:rPr>
              <a:t>Vacant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49670" y="6698650"/>
            <a:ext cx="882243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Site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Mohamed Yusuf Siddik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57948" y="6698650"/>
            <a:ext cx="882243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Site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Ibrahim Talal aihindi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49670" y="6983699"/>
            <a:ext cx="882243" cy="213786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Site Engineer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Waheed Abdul Aziz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7948" y="6983699"/>
            <a:ext cx="882243" cy="256544"/>
          </a:xfrm>
          <a:prstGeom prst="rect">
            <a:avLst/>
          </a:prstGeom>
          <a:solidFill>
            <a:srgbClr val="F4B183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" tIns="6350" lIns="12700" rIns="12700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000000"/>
                </a:solidFill>
                <a:latin typeface="Arial"/>
              </a:rPr>
              <a:t>Zone Manager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Zone 4 FAS SVB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>
                <a:solidFill>
                  <a:srgbClr val="000000"/>
                </a:solidFill>
                <a:latin typeface="Arial"/>
              </a:rPr>
              <a:t>Jamal Ali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49670" y="7340010"/>
            <a:ext cx="1890522" cy="498835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700">
                <a:latin typeface="Arial"/>
              </a:rPr>
              <a:t>Admin &amp; DDC</a:t>
            </a:r>
          </a:p>
          <a:p>
            <a:pPr algn="ctr"/>
            <a:r>
              <a:rPr sz="500">
                <a:latin typeface="Arial"/>
              </a:rPr>
              <a:t>Adel Bakr, Abdullah Bawazeer, Rahmathullah, Bahmeesh, Awni Salama</a:t>
            </a:r>
          </a:p>
          <a:p>
            <a:pPr algn="ctr"/>
            <a:r>
              <a:rPr sz="600">
                <a:latin typeface="Arial"/>
              </a:rPr>
              <a:t>Driver (2)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986653" y="1140195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11218" y="1282720"/>
            <a:ext cx="2016556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411218" y="1282720"/>
            <a:ext cx="0" cy="142524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6427774" y="1282720"/>
            <a:ext cx="0" cy="142524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6427774" y="1852818"/>
            <a:ext cx="0" cy="142524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545531" y="1995342"/>
            <a:ext cx="2520696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5545531" y="1995342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805879" y="1995342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8066227" y="1995342"/>
            <a:ext cx="0" cy="142525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175705" y="1995342"/>
            <a:ext cx="0" cy="712623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452610" y="10261762"/>
            <a:ext cx="1890522" cy="2137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000000"/>
                </a:solidFill>
                <a:latin typeface="Arial"/>
              </a:rPr>
              <a:t>SME * Subject Matter Expert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